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23960" y="5120640"/>
            <a:ext cx="3108960" cy="19050"/>
          </a:xfrm>
          <a:prstGeom prst="rect">
            <a:avLst/>
          </a:prstGeom>
          <a:solidFill>
            <a:srgbClr val="333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23960" y="4846320"/>
            <a:ext cx="82296" cy="2743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70848" y="4434840"/>
            <a:ext cx="82296" cy="685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62872" y="4892040"/>
            <a:ext cx="82296" cy="2286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0" y="4251960"/>
            <a:ext cx="82296" cy="86868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92640" y="4937760"/>
            <a:ext cx="82296" cy="182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39528" y="4617720"/>
            <a:ext cx="82296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8984" y="4160520"/>
            <a:ext cx="82296" cy="9601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60152" y="4846320"/>
            <a:ext cx="82296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88752" y="4526280"/>
            <a:ext cx="82296" cy="5943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35640" y="4919472"/>
            <a:ext cx="82296" cy="20116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073384" y="434340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4800600"/>
            <a:ext cx="82296" cy="3200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30584" y="4206240"/>
            <a:ext cx="82296" cy="9144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50040" y="4864608"/>
            <a:ext cx="82296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B2A4EA"/>
                </a:solidFill>
                <a:latin typeface="Arial"/>
              </a:rPr>
              <a:t>TECHNICAL PARTNERSHIP PITCH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33172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NEUROMORPHIC VIO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246120"/>
            <a:ext cx="1005840" cy="4445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2F1EC"/>
                </a:solidFill>
                <a:latin typeface="Arial"/>
              </a:rPr>
              <a:t>Drones that see where GPS can't reach — at a fraction of the power.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63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9892"/>
                </a:solidFill>
                <a:latin typeface="Arial"/>
              </a:rPr>
              <a:t>Prepared for a potential technical co-founder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263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9892"/>
                </a:solidFill>
                <a:latin typeface="Arial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01  —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B0B0B"/>
                </a:solidFill>
                <a:latin typeface="Arial"/>
              </a:rPr>
              <a:t>GPS-denied navigation is the hard problem
autonomy hasn't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6903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650" b="1">
                <a:solidFill>
                  <a:srgbClr val="4A3AA7"/>
                </a:solidFill>
                <a:latin typeface="Arial"/>
              </a:rPr>
              <a:t>—  </a:t>
            </a:r>
            <a:r>
              <a:rPr sz="1650" b="1">
                <a:solidFill>
                  <a:srgbClr val="0B0B0B"/>
                </a:solidFill>
                <a:latin typeface="Arial"/>
              </a:rPr>
              <a:t>Any jammer or tunnel blinds a GPS-only drone: </a:t>
            </a:r>
            <a:r>
              <a:rPr sz="1650" b="0">
                <a:solidFill>
                  <a:srgbClr val="52514E"/>
                </a:solidFill>
                <a:latin typeface="Arial"/>
              </a:rPr>
              <a:t>no signal means no position, and no position means no mission.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650" b="1">
                <a:solidFill>
                  <a:srgbClr val="4A3AA7"/>
                </a:solidFill>
                <a:latin typeface="Arial"/>
              </a:rPr>
              <a:t>—  </a:t>
            </a:r>
            <a:r>
              <a:rPr sz="1650" b="1">
                <a:solidFill>
                  <a:srgbClr val="0B0B0B"/>
                </a:solidFill>
                <a:latin typeface="Arial"/>
              </a:rPr>
              <a:t>Two existing fixes, both wrong for small drones: </a:t>
            </a:r>
            <a:r>
              <a:rPr sz="1650" b="0">
                <a:solidFill>
                  <a:srgbClr val="52514E"/>
                </a:solidFill>
                <a:latin typeface="Arial"/>
              </a:rPr>
              <a:t>classical vision is cheap but breaks on low light, motion blur, and texture-less scenes; GPU-class learned vision is robust but needs 5–15W a small airframe can't spare.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650" b="1">
                <a:solidFill>
                  <a:srgbClr val="4A3AA7"/>
                </a:solidFill>
                <a:latin typeface="Arial"/>
              </a:rPr>
              <a:t>—  </a:t>
            </a:r>
            <a:r>
              <a:rPr sz="1650" b="1">
                <a:solidFill>
                  <a:srgbClr val="0B0B0B"/>
                </a:solidFill>
                <a:latin typeface="Arial"/>
              </a:rPr>
              <a:t>This isn't hypothetical: </a:t>
            </a:r>
            <a:r>
              <a:rPr sz="1650" b="0">
                <a:solidFill>
                  <a:srgbClr val="52514E"/>
                </a:solidFill>
                <a:latin typeface="Arial"/>
              </a:rPr>
              <a:t>in April 2026 the U.S. Army paid AeroVironment $17.6M for Red Dragon, a 400km strike drone whose GPS-denied navigation runs on onboard vision and digital scene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331720"/>
            <a:ext cx="3611880" cy="1554480"/>
          </a:xfrm>
          <a:prstGeom prst="roundRect">
            <a:avLst>
              <a:gd name="adj" fmla="val 10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8" y="2459736"/>
            <a:ext cx="320954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A3AA7"/>
                </a:solidFill>
                <a:latin typeface="Arial"/>
              </a:rPr>
              <a:t>400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3008376"/>
            <a:ext cx="3209544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Arial"/>
              </a:rPr>
              <a:t>flown GPS-denied — Red Dragon, U.S. Army contract, Apr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4069080"/>
            <a:ext cx="3611880" cy="1554480"/>
          </a:xfrm>
          <a:prstGeom prst="roundRect">
            <a:avLst>
              <a:gd name="adj" fmla="val 10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4197096"/>
            <a:ext cx="320954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B6834"/>
                </a:solidFill>
                <a:latin typeface="Arial"/>
              </a:rPr>
              <a:t>$3.1B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4745736"/>
            <a:ext cx="3209544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Arial"/>
              </a:rPr>
              <a:t>Pentagon counter-drone budget — the money is already moving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02  —  WHY THE MARKET IS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B0B0B"/>
                </a:solidFill>
                <a:latin typeface="Arial"/>
              </a:rPr>
              <a:t>This isn't speculative demand — it's already being funded</a:t>
            </a:r>
          </a:p>
        </p:txBody>
      </p:sp>
      <p:pic>
        <p:nvPicPr>
          <p:cNvPr id="6" name="Picture 5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5989320" cy="32266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233172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550" b="1">
                <a:solidFill>
                  <a:srgbClr val="4A3AA7"/>
                </a:solidFill>
                <a:latin typeface="Arial"/>
              </a:rPr>
              <a:t>—  </a:t>
            </a:r>
            <a:r>
              <a:rPr sz="1550" b="1">
                <a:solidFill>
                  <a:srgbClr val="0B0B0B"/>
                </a:solidFill>
                <a:latin typeface="Arial"/>
              </a:rPr>
              <a:t>GPS-denied navigation market: </a:t>
            </a:r>
            <a:r>
              <a:rPr sz="1550" b="0">
                <a:solidFill>
                  <a:srgbClr val="52514E"/>
                </a:solidFill>
                <a:latin typeface="Arial"/>
              </a:rPr>
              <a:t>$163.1M (2026) → $334.2M (2033), a 9.4% CAGR.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550" b="1">
                <a:solidFill>
                  <a:srgbClr val="4A3AA7"/>
                </a:solidFill>
                <a:latin typeface="Arial"/>
              </a:rPr>
              <a:t>—  </a:t>
            </a:r>
            <a:r>
              <a:rPr sz="1550" b="1">
                <a:solidFill>
                  <a:srgbClr val="0B0B0B"/>
                </a:solidFill>
                <a:latin typeface="Arial"/>
              </a:rPr>
              <a:t>Defense tech VC funding: </a:t>
            </a:r>
            <a:r>
              <a:rPr sz="1550" b="0">
                <a:solidFill>
                  <a:srgbClr val="52514E"/>
                </a:solidFill>
                <a:latin typeface="Arial"/>
              </a:rPr>
              <a:t>$17.9B in 2025 — more than double 2024's $7.3B.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550" b="1">
                <a:solidFill>
                  <a:srgbClr val="4A3AA7"/>
                </a:solidFill>
                <a:latin typeface="Arial"/>
              </a:rPr>
              <a:t>—  </a:t>
            </a:r>
            <a:r>
              <a:rPr sz="1550" b="1">
                <a:solidFill>
                  <a:srgbClr val="0B0B0B"/>
                </a:solidFill>
                <a:latin typeface="Arial"/>
              </a:rPr>
              <a:t>DARPA OPTIMA program: </a:t>
            </a:r>
            <a:r>
              <a:rPr sz="1550" b="0">
                <a:solidFill>
                  <a:srgbClr val="52514E"/>
                </a:solidFill>
                <a:latin typeface="Arial"/>
              </a:rPr>
              <a:t>$78M committed specifically to compute-in-memory accelerators.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550" b="1">
                <a:solidFill>
                  <a:srgbClr val="4A3AA7"/>
                </a:solidFill>
                <a:latin typeface="Arial"/>
              </a:rPr>
              <a:t>—  </a:t>
            </a:r>
            <a:r>
              <a:rPr sz="1550" b="1">
                <a:solidFill>
                  <a:srgbClr val="0B0B0B"/>
                </a:solidFill>
                <a:latin typeface="Arial"/>
              </a:rPr>
              <a:t>Pentagon counter-drone budget: </a:t>
            </a:r>
            <a:r>
              <a:rPr sz="1550" b="0">
                <a:solidFill>
                  <a:srgbClr val="52514E"/>
                </a:solidFill>
                <a:latin typeface="Arial"/>
              </a:rPr>
              <a:t>$3.1B allocated and growing.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8781"/>
                </a:solidFill>
                <a:latin typeface="Arial"/>
              </a:rPr>
              <a:t>Sources: defense-tech funding reports and GPS-denied navigation market sizing, 2025–2026.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03  —  THE OPEN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B0B0B"/>
                </a:solidFill>
                <a:latin typeface="Arial"/>
              </a:rPr>
              <a:t>Nothing efficient sits between ‘cheap but brittle’
and ‘accurate but power-hungry’</a:t>
            </a:r>
          </a:p>
        </p:txBody>
      </p:sp>
      <p:pic>
        <p:nvPicPr>
          <p:cNvPr id="6" name="Picture 5" descr="power_accuracy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48840"/>
            <a:ext cx="6537960" cy="38581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2331720"/>
            <a:ext cx="4297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1">
                <a:solidFill>
                  <a:srgbClr val="0B0B0B"/>
                </a:solidFill>
                <a:latin typeface="Arial"/>
              </a:rPr>
              <a:t>Classical VIO </a:t>
            </a:r>
            <a:r>
              <a:rPr sz="1450" b="0">
                <a:solidFill>
                  <a:srgbClr val="52514E"/>
                </a:solidFill>
                <a:latin typeface="Arial"/>
              </a:rPr>
              <a:t>(ORB-SLAM3, MIT Navion): milliwatt-class power, but fails on low light, motion blur, texture-less scenes.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1">
                <a:solidFill>
                  <a:srgbClr val="0B0B0B"/>
                </a:solidFill>
                <a:latin typeface="Arial"/>
              </a:rPr>
              <a:t>Learned VIO </a:t>
            </a:r>
            <a:r>
              <a:rPr sz="1450" b="0">
                <a:solidFill>
                  <a:srgbClr val="52514E"/>
                </a:solidFill>
                <a:latin typeface="Arial"/>
              </a:rPr>
              <a:t>(DPVO, DROID-SLAM): handles the hard cases, but needs 5–15W of GPU — 100–1000x a small drone's budget.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1">
                <a:solidFill>
                  <a:srgbClr val="0B0B0B"/>
                </a:solidFill>
                <a:latin typeface="Arial"/>
              </a:rPr>
              <a:t>We scanned every neuromorphic and edge-AI chip on the market </a:t>
            </a:r>
            <a:r>
              <a:rPr sz="1450" b="0">
                <a:solidFill>
                  <a:srgbClr val="52514E"/>
                </a:solidFill>
                <a:latin typeface="Arial"/>
              </a:rPr>
              <a:t>— Qualcomm, NVIDIA, Hailo, BrainChip, SynSense, Intel Loihi — none closes this gap for VIO.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04  —  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B0B0B"/>
                </a:solidFill>
                <a:latin typeface="Arial"/>
              </a:rPr>
              <a:t>Sparse sensing, sparse compute — a spiking front-end,
a classical back-end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1">
                <a:solidFill>
                  <a:srgbClr val="0B0B0B"/>
                </a:solidFill>
                <a:latin typeface="Arial"/>
              </a:rPr>
              <a:t>Event cameras report only pixel changes </a:t>
            </a:r>
            <a:r>
              <a:rPr sz="1450" b="0">
                <a:solidFill>
                  <a:srgbClr val="52514E"/>
                </a:solidFill>
                <a:latin typeface="Arial"/>
              </a:rPr>
              <a:t>— 100–1000x less data than a frame camera.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1">
                <a:solidFill>
                  <a:srgbClr val="0B0B0B"/>
                </a:solidFill>
                <a:latin typeface="Arial"/>
              </a:rPr>
              <a:t>SNNs compute only when a spike arrives </a:t>
            </a:r>
            <a:r>
              <a:rPr sz="1450" b="0">
                <a:solidFill>
                  <a:srgbClr val="52514E"/>
                </a:solidFill>
                <a:latin typeface="Arial"/>
              </a:rPr>
              <a:t>— no wasted cycles on static pixels, the same sparsity all the way through.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1">
                <a:solidFill>
                  <a:srgbClr val="0B0B0B"/>
                </a:solidFill>
                <a:latin typeface="Arial"/>
              </a:rPr>
              <a:t>We pair that with a classical EKF back-end </a:t>
            </a:r>
            <a:r>
              <a:rPr sz="1450" b="0">
                <a:solidFill>
                  <a:srgbClr val="52514E"/>
                </a:solidFill>
                <a:latin typeface="Arial"/>
              </a:rPr>
              <a:t>— learned flexibility where it helps, guaranteed correctness where it must.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486" y="370332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7486" y="3703320"/>
            <a:ext cx="64008" cy="1051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3790" y="3703320"/>
            <a:ext cx="1636775" cy="10515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B0B0B"/>
                </a:solidFill>
                <a:latin typeface="Arial"/>
              </a:rPr>
              <a:t>Event
Camera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8037" y="370332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28037" y="3703320"/>
            <a:ext cx="64008" cy="105156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4341" y="3703320"/>
            <a:ext cx="1636775" cy="10515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B0B0B"/>
                </a:solidFill>
                <a:latin typeface="Arial"/>
              </a:rPr>
              <a:t>SNN Front-End
(feature / motion
extraction)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8588" y="370332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58588" y="3703320"/>
            <a:ext cx="64008" cy="1051560"/>
          </a:xfrm>
          <a:prstGeom prst="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4892" y="3703320"/>
            <a:ext cx="1636775" cy="10515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B0B0B"/>
                </a:solidFill>
                <a:latin typeface="Arial"/>
              </a:rPr>
              <a:t>Sparse Feature /
Motion
Representation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9139" y="370332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89139" y="3703320"/>
            <a:ext cx="64008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5443" y="3703320"/>
            <a:ext cx="1636775" cy="10515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B0B0B"/>
                </a:solidFill>
                <a:latin typeface="Arial"/>
              </a:rPr>
              <a:t>Classical EKF
Back-End
(sensor fusion)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9690" y="370332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9690" y="3703320"/>
            <a:ext cx="64008" cy="105156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5994" y="3703320"/>
            <a:ext cx="1636775" cy="10515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B0B0B"/>
                </a:solidFill>
                <a:latin typeface="Arial"/>
              </a:rPr>
              <a:t>Pose Output
200Hz+, &lt;5ms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72005" y="4229100.0"/>
            <a:ext cx="256032" cy="0.0"/>
          </a:xfrm>
          <a:prstGeom prst="bentConnector3">
            <a:avLst/>
          </a:prstGeom>
          <a:ln w="222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02556" y="4229100.0"/>
            <a:ext cx="256032" cy="0.0"/>
          </a:xfrm>
          <a:prstGeom prst="bentConnector3">
            <a:avLst/>
          </a:prstGeom>
          <a:ln w="222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33107" y="4229100.0"/>
            <a:ext cx="256032" cy="0.0"/>
          </a:xfrm>
          <a:prstGeom prst="bentConnector3">
            <a:avLst/>
          </a:prstGeom>
          <a:ln w="222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63658" y="4229100.0"/>
            <a:ext cx="256032" cy="0.0"/>
          </a:xfrm>
          <a:prstGeom prst="bentConnector3">
            <a:avLst/>
          </a:prstGeom>
          <a:ln w="222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78027" y="5074920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195" y="5202936"/>
            <a:ext cx="220370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Arial"/>
              </a:rPr>
              <a:t>&lt;200 mW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195" y="5751576"/>
            <a:ext cx="2203704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Arial"/>
              </a:rPr>
              <a:t>power budget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1227" y="5074920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2395" y="5202936"/>
            <a:ext cx="220370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A3AA7"/>
                </a:solidFill>
                <a:latin typeface="Arial"/>
              </a:rPr>
              <a:t>&lt;5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2395" y="5751576"/>
            <a:ext cx="2203704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Arial"/>
              </a:rPr>
              <a:t>pose latency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4427" y="5074920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5595" y="5202936"/>
            <a:ext cx="220370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B6834"/>
                </a:solidFill>
                <a:latin typeface="Arial"/>
              </a:rPr>
              <a:t>200 Hz+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5595" y="5751576"/>
            <a:ext cx="2203704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Arial"/>
              </a:rPr>
              <a:t>output 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07627" y="5074920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8795" y="5202936"/>
            <a:ext cx="220370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A3AA7"/>
                </a:solidFill>
                <a:latin typeface="Arial"/>
              </a:rPr>
              <a:t>1280×720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8795" y="5751576"/>
            <a:ext cx="2203704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Arial"/>
              </a:rPr>
              <a:t>event resolution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05  —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B0B0B"/>
                </a:solidFill>
                <a:latin typeface="Arial"/>
              </a:rPr>
              <a:t>Three things just became true at the same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29169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A78D6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2916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0B0B"/>
                </a:solidFill>
                <a:latin typeface="Arial"/>
              </a:rPr>
              <a:t>Event cameras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703320"/>
            <a:ext cx="291693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Arial"/>
              </a:rPr>
              <a:t>Prophesee and iniVation sensors are commercially available now — not lab prototypes.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6596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194560"/>
            <a:ext cx="29169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4A3AA7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926080"/>
            <a:ext cx="2916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0B0B"/>
                </a:solidFill>
                <a:latin typeface="Arial"/>
              </a:rPr>
              <a:t>SNN tooling matured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703320"/>
            <a:ext cx="291693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Arial"/>
              </a:rPr>
              <a:t>snnTorch and SpikingJelly train on commodity GPUs and export to INT8/ONNX — the missing PyTorch-equivalent finally exists.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96596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194560"/>
            <a:ext cx="29169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B6834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926080"/>
            <a:ext cx="2916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0B0B"/>
                </a:solidFill>
                <a:latin typeface="Arial"/>
              </a:rPr>
              <a:t>A power proof point landed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703320"/>
            <a:ext cx="291693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Arial"/>
              </a:rPr>
              <a:t>TinyDEVO (CVPR 2026) just showed a learned event-VO pipeline running at 86mW on a RISC-V MCU — the sub-500mW gap is closing, right now.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486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961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4A3AA7"/>
                </a:solidFill>
                <a:latin typeface="Arial"/>
              </a:rPr>
              <a:t>And defense demand is accelerating under all three — this is a closing window, not an open-ended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06  — 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0B0B"/>
                </a:solidFill>
                <a:latin typeface="Arial"/>
              </a:rPr>
              <a:t>We checked every neuromorphic and edge-AI player.
Zero target this gap.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908791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554480"/>
                <a:gridCol w="4142232"/>
                <a:gridCol w="1463040"/>
              </a:tblGrid>
              <a:tr h="405765">
                <a:tc>
                  <a:txBody>
                    <a:bodyPr lIns="109728" tIns="54864" bIns="54864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Player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 lIns="109728" tIns="54864" bIns="54864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Power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 lIns="109728" tIns="54864" bIns="54864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Can do full VIO?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 lIns="109728" tIns="54864" bIns="54864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Threat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405765"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Arial"/>
                        </a:rPr>
                        <a:t>SynSense Speck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&lt;5 mW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No — 128×128 resolution ceiling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98781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05765"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Arial"/>
                        </a:rPr>
                        <a:t>BrainChip AKD1500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&lt;300 mW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No — wrong architecture (counter-drone)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98781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</a:tr>
              <a:tr h="405765"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Arial"/>
                        </a:rPr>
                        <a:t>Intel Loihi 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~1.2 W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Research only, targets healthcare/AV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98781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05765"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Arial"/>
                        </a:rPr>
                        <a:t>Hailo-8 / 15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1.5–2.5 W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Partial — CNN only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ctr"/>
                      <a:r>
                        <a:rPr sz="1150" b="1">
                          <a:solidFill>
                            <a:srgbClr val="EB683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</a:tr>
              <a:tr h="405765"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Arial"/>
                        </a:rPr>
                        <a:t>Qualcomm RB5 / NVIDIA Orin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5–15 W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Yes, full — but that's the power gap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ctr"/>
                      <a:r>
                        <a:rPr sz="1150" b="1">
                          <a:solidFill>
                            <a:srgbClr val="4A3AA7"/>
                          </a:solidFill>
                          <a:latin typeface="Arial"/>
                        </a:rPr>
                        <a:t>High — the wedge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05765"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Arial"/>
                        </a:rPr>
                        <a:t>MIT Navion (academic)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2 mW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Yes — proved feasibility, never shipped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A78D6"/>
                          </a:solidFill>
                          <a:latin typeface="Arial"/>
                        </a:rPr>
                        <a:t>Validates market</a:t>
                      </a:r>
                    </a:p>
                  </a:txBody>
                  <a:tcPr>
                    <a:solidFill>
                      <a:srgbClr val="F3F2EC"/>
                    </a:solidFill>
                  </a:tcPr>
                </a:tc>
              </a:tr>
              <a:tr h="405765"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Arial"/>
                        </a:rPr>
                        <a:t>HYFIX (new, 2026)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Arial"/>
                        </a:rPr>
                        <a:t>No — RTK/GNSS correction, not vision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 lIns="109728"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98781"/>
                          </a:solidFill>
                          <a:latin typeface="Arial"/>
                        </a:rPr>
                        <a:t>Adjacent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4A3AA7"/>
                </a:solidFill>
                <a:latin typeface="Arial"/>
              </a:rPr>
              <a:t>Zero new VIO-accelerator competitors emerged across six months of tracking (Jan→Jul 2026). The gap is wide, and it isn't closing on its 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07  — 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B0B0B"/>
                </a:solidFill>
                <a:latin typeface="Arial"/>
              </a:rPr>
              <a:t>Already in motion — not just a slide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1650" b="1">
                <a:solidFill>
                  <a:srgbClr val="4A3AA7"/>
                </a:solidFill>
                <a:latin typeface="Arial"/>
              </a:rPr>
              <a:t>—  </a:t>
            </a:r>
            <a:r>
              <a:rPr sz="1650" b="1">
                <a:solidFill>
                  <a:srgbClr val="0B0B0B"/>
                </a:solidFill>
                <a:latin typeface="Arial"/>
              </a:rPr>
              <a:t>25+ sources synthesized </a:t>
            </a:r>
            <a:r>
              <a:rPr sz="1650" b="0">
                <a:solidFill>
                  <a:srgbClr val="52514E"/>
                </a:solidFill>
                <a:latin typeface="Arial"/>
              </a:rPr>
              <a:t>into technical architecture, competitive landscape, and risk-assessment research.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1650" b="1">
                <a:solidFill>
                  <a:srgbClr val="4A3AA7"/>
                </a:solidFill>
                <a:latin typeface="Arial"/>
              </a:rPr>
              <a:t>—  </a:t>
            </a:r>
            <a:r>
              <a:rPr sz="1650" b="1">
                <a:solidFill>
                  <a:srgbClr val="0B0B0B"/>
                </a:solidFill>
                <a:latin typeface="Arial"/>
              </a:rPr>
              <a:t>Working SNN demos built and running </a:t>
            </a:r>
            <a:r>
              <a:rPr sz="1650" b="0">
                <a:solidFill>
                  <a:srgbClr val="52514E"/>
                </a:solidFill>
                <a:latin typeface="Arial"/>
              </a:rPr>
              <a:t>(N-MNIST, DVS Gesture) on snnTorch.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1650" b="1">
                <a:solidFill>
                  <a:srgbClr val="4A3AA7"/>
                </a:solidFill>
                <a:latin typeface="Arial"/>
              </a:rPr>
              <a:t>—  </a:t>
            </a:r>
            <a:r>
              <a:rPr sz="1650" b="1">
                <a:solidFill>
                  <a:srgbClr val="0B0B0B"/>
                </a:solidFill>
                <a:latin typeface="Arial"/>
              </a:rPr>
              <a:t>Classical VIO feature tracker implemented, </a:t>
            </a:r>
            <a:r>
              <a:rPr sz="1650" b="0">
                <a:solidFill>
                  <a:srgbClr val="52514E"/>
                </a:solidFill>
                <a:latin typeface="Arial"/>
              </a:rPr>
              <a:t>with an EuRoC benchmark dataset pipeline wired up.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1650" b="1">
                <a:solidFill>
                  <a:srgbClr val="4A3AA7"/>
                </a:solidFill>
                <a:latin typeface="Arial"/>
              </a:rPr>
              <a:t>—  </a:t>
            </a:r>
            <a:r>
              <a:rPr sz="1650" b="1">
                <a:solidFill>
                  <a:srgbClr val="0B0B0B"/>
                </a:solidFill>
                <a:latin typeface="Arial"/>
              </a:rPr>
              <a:t>Hardware path selected and priced: </a:t>
            </a:r>
            <a:r>
              <a:rPr sz="1650" b="0">
                <a:solidFill>
                  <a:srgbClr val="52514E"/>
                </a:solidFill>
                <a:latin typeface="Arial"/>
              </a:rPr>
              <a:t>AMD Kria KV260 + Prophesee CCAM5 + BMI088 IMU — ~$800 prototype BOM.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1650" b="1">
                <a:solidFill>
                  <a:srgbClr val="4A3AA7"/>
                </a:solidFill>
                <a:latin typeface="Arial"/>
              </a:rPr>
              <a:t>—  </a:t>
            </a:r>
            <a:r>
              <a:rPr sz="1650" b="1">
                <a:solidFill>
                  <a:srgbClr val="0B0B0B"/>
                </a:solidFill>
                <a:latin typeface="Arial"/>
              </a:rPr>
              <a:t>Architecture grounded in a literature maturity assessment: </a:t>
            </a:r>
            <a:r>
              <a:rPr sz="1650" b="0">
                <a:solidFill>
                  <a:srgbClr val="52514E"/>
                </a:solidFill>
                <a:latin typeface="Arial"/>
              </a:rPr>
              <a:t>classical VIO 10/10 proven, SNN ego-motion 4/10, full end-to-end SNN VIO 2/10 — hence a hybrid, not a moonshot.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08  —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B0B0B"/>
                </a:solidFill>
                <a:latin typeface="Arial"/>
              </a:rPr>
              <a:t>A staged path that de-risks the hardest part last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027" y="2423160"/>
            <a:ext cx="2468880" cy="2331720"/>
          </a:xfrm>
          <a:prstGeom prst="roundRect">
            <a:avLst>
              <a:gd name="adj" fmla="val 8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027" y="2423160"/>
            <a:ext cx="246888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195" y="2679192"/>
            <a:ext cx="2066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2A78D6"/>
                </a:solidFill>
                <a:latin typeface="Arial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195" y="2990088"/>
            <a:ext cx="2066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98781"/>
                </a:solidFill>
                <a:latin typeface="Arial"/>
              </a:rPr>
              <a:t>Months 0–3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195" y="3383280"/>
            <a:ext cx="2066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0B0B"/>
                </a:solidFill>
                <a:latin typeface="Arial"/>
              </a:rPr>
              <a:t>Software SNN demos +
algorithm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195" y="4343400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2514E"/>
                </a:solidFill>
                <a:latin typeface="Arial"/>
              </a:rPr>
              <a:t>status: demos 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6947" y="2423160"/>
            <a:ext cx="2468880" cy="2331720"/>
          </a:xfrm>
          <a:prstGeom prst="roundRect">
            <a:avLst>
              <a:gd name="adj" fmla="val 8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6947" y="2423160"/>
            <a:ext cx="2468880" cy="8229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8115" y="2679192"/>
            <a:ext cx="2066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4A3AA7"/>
                </a:solidFill>
                <a:latin typeface="Arial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8115" y="2990088"/>
            <a:ext cx="2066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98781"/>
                </a:solidFill>
                <a:latin typeface="Arial"/>
              </a:rPr>
              <a:t>Months 3–9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3383280"/>
            <a:ext cx="2066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0B0B"/>
                </a:solidFill>
                <a:latin typeface="Arial"/>
              </a:rPr>
              <a:t>Classical VIO front-end
on FPGA (Kria KV260)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8115" y="4343400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2514E"/>
                </a:solidFill>
                <a:latin typeface="Arial"/>
              </a:rPr>
              <a:t>proven techniques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2423160"/>
            <a:ext cx="2468880" cy="2331720"/>
          </a:xfrm>
          <a:prstGeom prst="roundRect">
            <a:avLst>
              <a:gd name="adj" fmla="val 8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2423160"/>
            <a:ext cx="2468880" cy="8229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7035" y="2679192"/>
            <a:ext cx="2066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EB6834"/>
                </a:solidFill>
                <a:latin typeface="Arial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035" y="2990088"/>
            <a:ext cx="2066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98781"/>
                </a:solidFill>
                <a:latin typeface="Arial"/>
              </a:rPr>
              <a:t>Months 9–12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035" y="3383280"/>
            <a:ext cx="2066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0B0B"/>
                </a:solidFill>
                <a:latin typeface="Arial"/>
              </a:rPr>
              <a:t>Event camera integration
(Prophesee CCAM5, MIPI)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035" y="4343400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2514E"/>
                </a:solidFill>
                <a:latin typeface="Arial"/>
              </a:rPr>
              <a:t>sensor + hardware 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4787" y="2423160"/>
            <a:ext cx="2468880" cy="2331720"/>
          </a:xfrm>
          <a:prstGeom prst="roundRect">
            <a:avLst>
              <a:gd name="adj" fmla="val 8000"/>
            </a:avLst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4787" y="2423160"/>
            <a:ext cx="2468880" cy="8229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5955" y="2679192"/>
            <a:ext cx="2066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4A3AA7"/>
                </a:solidFill>
                <a:latin typeface="Arial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5955" y="2990088"/>
            <a:ext cx="2066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98781"/>
                </a:solidFill>
                <a:latin typeface="Arial"/>
              </a:rPr>
              <a:t>Months 12–30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5955" y="3383280"/>
            <a:ext cx="2066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0B0B"/>
                </a:solidFill>
                <a:latin typeface="Arial"/>
              </a:rPr>
              <a:t>SNN front-end replaces
classical feature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5955" y="4343400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2514E"/>
                </a:solidFill>
                <a:latin typeface="Arial"/>
              </a:rPr>
              <a:t>full neuromorphic pipeline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46907" y="3589020.0"/>
            <a:ext cx="320040" cy="0.0"/>
          </a:xfrm>
          <a:prstGeom prst="bentConnector3">
            <a:avLst/>
          </a:prstGeom>
          <a:ln w="222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935827" y="3589020.0"/>
            <a:ext cx="320040" cy="0.0"/>
          </a:xfrm>
          <a:prstGeom prst="bentConnector3">
            <a:avLst/>
          </a:prstGeom>
          <a:ln w="222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24747" y="3589020.0"/>
            <a:ext cx="320040" cy="0.0"/>
          </a:xfrm>
          <a:prstGeom prst="bentConnector3">
            <a:avLst/>
          </a:prstGeom>
          <a:ln w="222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09  —  WHY A TECHNICAL CO-FOUNDER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B0B0B"/>
                </a:solidFill>
                <a:latin typeface="Arial"/>
              </a:rPr>
              <a:t>I can design the silicon. I need a partner
to build the system around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2103120"/>
            <a:ext cx="19050" cy="384048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4A3AA7"/>
                </a:solidFill>
                <a:latin typeface="Arial"/>
              </a:rPr>
              <a:t>WHAT I BRING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0">
                <a:solidFill>
                  <a:srgbClr val="52514E"/>
                </a:solidFill>
                <a:latin typeface="Arial"/>
              </a:rPr>
              <a:t>Logic-design background — FPGA/ASIC architecture, RTL, hardware roadmap.</a:t>
            </a:r>
          </a:p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0">
                <a:solidFill>
                  <a:srgbClr val="52514E"/>
                </a:solidFill>
                <a:latin typeface="Arial"/>
              </a:rPr>
              <a:t>Deep technical research already done — 25+ sources, architecture decisions grounded in literature.</a:t>
            </a:r>
          </a:p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50" b="1">
                <a:solidFill>
                  <a:srgbClr val="4A3AA7"/>
                </a:solidFill>
                <a:latin typeface="Arial"/>
              </a:rPr>
              <a:t>—  </a:t>
            </a:r>
            <a:r>
              <a:rPr sz="1450" b="0">
                <a:solidFill>
                  <a:srgbClr val="52514E"/>
                </a:solidFill>
                <a:latin typeface="Arial"/>
              </a:rPr>
              <a:t>The compute model for the accelerator and the priced hardware BOM.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EB6834"/>
                </a:solidFill>
                <a:latin typeface="Arial"/>
              </a:rPr>
              <a:t>WHAT'S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50" b="1">
                <a:solidFill>
                  <a:srgbClr val="EB6834"/>
                </a:solidFill>
                <a:latin typeface="Arial"/>
              </a:rPr>
              <a:t>—  </a:t>
            </a:r>
            <a:r>
              <a:rPr sz="1450" b="0">
                <a:solidFill>
                  <a:srgbClr val="52514E"/>
                </a:solidFill>
                <a:latin typeface="Arial"/>
              </a:rPr>
              <a:t>Production ML engineering — SNN training methodology, dataset pipelines.</a:t>
            </a:r>
          </a:p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50" b="1">
                <a:solidFill>
                  <a:srgbClr val="EB6834"/>
                </a:solidFill>
                <a:latin typeface="Arial"/>
              </a:rPr>
              <a:t>—  </a:t>
            </a:r>
            <a:r>
              <a:rPr sz="1450" b="0">
                <a:solidFill>
                  <a:srgbClr val="52514E"/>
                </a:solidFill>
                <a:latin typeface="Arial"/>
              </a:rPr>
              <a:t>Real-time embedded software — MIPI/driver integration, event-stream processing.</a:t>
            </a:r>
          </a:p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50" b="1">
                <a:solidFill>
                  <a:srgbClr val="EB6834"/>
                </a:solidFill>
                <a:latin typeface="Arial"/>
              </a:rPr>
              <a:t>—  </a:t>
            </a:r>
            <a:r>
              <a:rPr sz="1450" b="0">
                <a:solidFill>
                  <a:srgbClr val="52514E"/>
                </a:solidFill>
                <a:latin typeface="Arial"/>
              </a:rPr>
              <a:t>The software architecture that turns a chip into a usable product.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486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0B0B0B"/>
                </a:solidFill>
                <a:latin typeface="Arial"/>
              </a:rPr>
              <a:t>This isn't “write some scripts.” It's owning half the technical direction of a company
at its earliest, most malleable point.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898781"/>
                </a:solidFill>
                <a:latin typeface="Arial"/>
              </a:rPr>
              <a:t>10  —  THE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B0B0B"/>
                </a:solidFill>
                <a:latin typeface="Arial"/>
              </a:rPr>
              <a:t>Technical co-founder — equal footing, from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515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800"/>
              </a:spcAft>
            </a:pPr>
            <a:r>
              <a:rPr sz="1700" b="1">
                <a:solidFill>
                  <a:srgbClr val="4A3AA7"/>
                </a:solidFill>
                <a:latin typeface="Arial"/>
              </a:rPr>
              <a:t>—  </a:t>
            </a:r>
            <a:r>
              <a:rPr sz="1700" b="1">
                <a:solidFill>
                  <a:srgbClr val="0B0B0B"/>
                </a:solidFill>
                <a:latin typeface="Arial"/>
              </a:rPr>
              <a:t>Equity co-founder role, </a:t>
            </a:r>
            <a:r>
              <a:rPr sz="1700" b="0">
                <a:solidFill>
                  <a:srgbClr val="52514E"/>
                </a:solidFill>
                <a:latin typeface="Arial"/>
              </a:rPr>
              <a:t>not a contractor and not a later hire.</a:t>
            </a:r>
          </a:p>
          <a:p>
            <a:pPr>
              <a:lnSpc>
                <a:spcPct val="114000"/>
              </a:lnSpc>
              <a:spcAft>
                <a:spcPts val="1800"/>
              </a:spcAft>
            </a:pPr>
            <a:r>
              <a:rPr sz="1700" b="1">
                <a:solidFill>
                  <a:srgbClr val="4A3AA7"/>
                </a:solidFill>
                <a:latin typeface="Arial"/>
              </a:rPr>
              <a:t>—  </a:t>
            </a:r>
            <a:r>
              <a:rPr sz="1700" b="1">
                <a:solidFill>
                  <a:srgbClr val="0B0B0B"/>
                </a:solidFill>
                <a:latin typeface="Arial"/>
              </a:rPr>
              <a:t>Shared ownership of technical direction: </a:t>
            </a:r>
            <a:r>
              <a:rPr sz="1700" b="0">
                <a:solidFill>
                  <a:srgbClr val="52514E"/>
                </a:solidFill>
                <a:latin typeface="Arial"/>
              </a:rPr>
              <a:t>the training framework, the software architecture, and the build-vs-buy calls are joint decisions from day one.</a:t>
            </a:r>
          </a:p>
          <a:p>
            <a:pPr>
              <a:lnSpc>
                <a:spcPct val="114000"/>
              </a:lnSpc>
              <a:spcAft>
                <a:spcPts val="1800"/>
              </a:spcAft>
            </a:pPr>
            <a:r>
              <a:rPr sz="1700" b="1">
                <a:solidFill>
                  <a:srgbClr val="4A3AA7"/>
                </a:solidFill>
                <a:latin typeface="Arial"/>
              </a:rPr>
              <a:t>—  </a:t>
            </a:r>
            <a:r>
              <a:rPr sz="1700" b="1">
                <a:solidFill>
                  <a:srgbClr val="0B0B0B"/>
                </a:solidFill>
                <a:latin typeface="Arial"/>
              </a:rPr>
              <a:t>Ground floor on a validated gap </a:t>
            </a:r>
            <a:r>
              <a:rPr sz="1700" b="0">
                <a:solidFill>
                  <a:srgbClr val="52514E"/>
                </a:solidFill>
                <a:latin typeface="Arial"/>
              </a:rPr>
              <a:t>in an accelerating market — $163M → $334M by 2033, with defense demand already funding it.</a:t>
            </a:r>
          </a:p>
          <a:p>
            <a:pPr>
              <a:lnSpc>
                <a:spcPct val="114000"/>
              </a:lnSpc>
              <a:spcAft>
                <a:spcPts val="1800"/>
              </a:spcAft>
            </a:pPr>
            <a:r>
              <a:rPr sz="1700" b="1">
                <a:solidFill>
                  <a:srgbClr val="4A3AA7"/>
                </a:solidFill>
                <a:latin typeface="Arial"/>
              </a:rPr>
              <a:t>—  </a:t>
            </a:r>
            <a:r>
              <a:rPr sz="1700" b="1">
                <a:solidFill>
                  <a:srgbClr val="0B0B0B"/>
                </a:solidFill>
                <a:latin typeface="Arial"/>
              </a:rPr>
              <a:t>Specific equity split and terms: </a:t>
            </a:r>
            <a:r>
              <a:rPr sz="1700" b="0">
                <a:solidFill>
                  <a:srgbClr val="52514E"/>
                </a:solidFill>
                <a:latin typeface="Arial"/>
              </a:rPr>
              <a:t>open — that's exactly what the next conversation is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898781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256032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38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B2A4EA"/>
                </a:solidFill>
                <a:latin typeface="Arial"/>
              </a:rPr>
              <a:t>LET'S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Let's build the thing that doesn't exist yet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027" y="214884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17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9195" y="2276856"/>
            <a:ext cx="220370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Arial"/>
              </a:rPr>
              <a:t>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195" y="2825496"/>
            <a:ext cx="220370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2F1EC"/>
                </a:solidFill>
                <a:latin typeface="Arial"/>
              </a:rPr>
              <a:t>proven and wide 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14884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17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2395" y="2276856"/>
            <a:ext cx="220370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B6834"/>
                </a:solidFill>
                <a:latin typeface="Arial"/>
              </a:rPr>
              <a:t>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2395" y="2825496"/>
            <a:ext cx="220370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2F1EC"/>
                </a:solidFill>
                <a:latin typeface="Arial"/>
              </a:rPr>
              <a:t>funded and accelerating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214884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17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5595" y="2276856"/>
            <a:ext cx="220370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A3AA7"/>
                </a:solidFill>
                <a:latin typeface="Arial"/>
              </a:rPr>
              <a:t>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5595" y="2825496"/>
            <a:ext cx="220370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2F1EC"/>
                </a:solidFill>
                <a:latin typeface="Arial"/>
              </a:rPr>
              <a:t>real demos, not just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7627" y="214884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17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8795" y="2276856"/>
            <a:ext cx="2203704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Arial"/>
              </a:rPr>
              <a:t>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8795" y="2825496"/>
            <a:ext cx="220370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2F1EC"/>
                </a:solidFill>
                <a:latin typeface="Arial"/>
              </a:rPr>
              <a:t>staged and de-risked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2F1EC"/>
                </a:solidFill>
                <a:latin typeface="Arial"/>
              </a:rPr>
              <a:t>Next step: let's spend a few sessions scoping the software architecture together — no commitment, just seeing if this is a problem you want to spend the next few years solving with 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12080"/>
            <a:ext cx="1005840" cy="4445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Ofir Hadad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9892"/>
                </a:solidFill>
                <a:latin typeface="Arial"/>
              </a:rPr>
              <a:t>ofir.hadad3@gmail.com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12700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50">
                <a:solidFill>
                  <a:srgbClr val="777670"/>
                </a:solidFill>
                <a:latin typeface="Arial"/>
              </a:rPr>
              <a:t>NEUROMORPHIC VIO  —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77670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